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The uploaded university guidelines state Review 1 carries 33 marks and the project is evaluated using either the GUI-based or Web-based rubric.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university PDF explicitly separates GUI-based and Web-based rubrics. The Web-based table on page 3 gives 8 + 10 + 8 + 7 = 33 marks for Review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role map used in the design. Each user type has a distinct dashboard while the feed and recipe detail remain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uses a small MVC-style separation: Servlets handle HTTP, services hold business rules, DAOs perform JDBC, and models hold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 source: database/schema.sql in the supplied Review 1 project pack. Main foreign-key paths are users→recipes, recipes→ingredients/instructions/reviews, and user-owned collections, messages and browsing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UI direction is intentionally original: social-feed behaviour is familiar, but the visual language is a warm editorial recipe app rather than a direct clone of Instagram, Facebook or Reddit.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placement plan for the organizer requirements. The dashboards are distinct, while the common recipe feed and detail screen are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1 requires a presentation and GitHub link. The university document states Review 1 is 33 marks and the Web-based rubric covers solution design, core Java, JDBC and Servlets/Web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university document gives 10 October 2026 as the Review 1 deadline and 15 November 2026 as the Review 2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6231F"/>
          </a:solidFill>
          <a:ln w="12700">
            <a:solidFill>
              <a:srgbClr val="26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9282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" kern="0" dirty="0">
                <a:solidFill>
                  <a:srgbClr val="FFF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RECIPE SHARING PLATFORM  |  REVIEW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0" y="659282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9E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Programming •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DF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DF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5120640" cy="5120640"/>
          </a:xfrm>
          <a:prstGeom prst="arc">
            <a:avLst/>
          </a:prstGeom>
          <a:noFill/>
          <a:ln w="38100">
            <a:solidFill>
              <a:srgbClr val="E45B3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960120"/>
            <a:ext cx="2560320" cy="2560320"/>
          </a:xfrm>
          <a:prstGeom prst="ellipse">
            <a:avLst/>
          </a:prstGeom>
          <a:solidFill>
            <a:srgbClr val="E45B37">
              <a:alpha val="94000"/>
            </a:srgbClr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19488" y="1554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ONLINE RECIPE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SHARING PLATFORM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2834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9BB"/>
                </a:solidFill>
              </a:rPr>
              <a:t>Java Web Project • Review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324612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2EAE3"/>
                </a:solidFill>
              </a:rPr>
              <a:t>A role-based community for publishing, discovering, rating and saving recipes.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4251960"/>
            <a:ext cx="1051560" cy="274320"/>
          </a:xfrm>
          <a:prstGeom prst="roundRect">
            <a:avLst>
              <a:gd name="adj" fmla="val 43333"/>
            </a:avLst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265676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WEB-BASED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0" y="4251960"/>
            <a:ext cx="1417320" cy="274320"/>
          </a:xfrm>
          <a:prstGeom prst="roundRect">
            <a:avLst>
              <a:gd name="adj" fmla="val 43333"/>
            </a:avLst>
          </a:prstGeom>
          <a:solidFill>
            <a:srgbClr val="3C332E"/>
          </a:solidFill>
          <a:ln w="12700">
            <a:solidFill>
              <a:srgbClr val="3C33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26567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JSP + SERVLETS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83280" y="4251960"/>
            <a:ext cx="1325880" cy="274320"/>
          </a:xfrm>
          <a:prstGeom prst="roundRect">
            <a:avLst>
              <a:gd name="adj" fmla="val 43333"/>
            </a:avLst>
          </a:prstGeom>
          <a:solidFill>
            <a:srgbClr val="3C332E"/>
          </a:solidFill>
          <a:ln w="12700">
            <a:solidFill>
              <a:srgbClr val="3C33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4265676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JDBC + MYSQL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8368" y="581558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B3AB"/>
                </a:solidFill>
              </a:rPr>
              <a:t>Prepared for Galgotias University •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DF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A74226"/>
                </a:solidFill>
              </a:rPr>
              <a:t>01 • PROJECT DIRECTION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231F"/>
                </a:solidFill>
              </a:rPr>
              <a:t>Why the web-based option is the lower-risk choice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2529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7716A"/>
                </a:solidFill>
              </a:rPr>
              <a:t>Decision based on the project idea, the two-day build window, and the supplied Web-based marking rubric.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40680" cy="4251960"/>
          </a:xfrm>
          <a:prstGeom prst="roundRect">
            <a:avLst>
              <a:gd name="adj" fmla="val 3441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848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4226"/>
                </a:solidFill>
              </a:rPr>
              <a:t>Decision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31F"/>
                </a:solidFill>
              </a:rPr>
              <a:t>Build it as a Java Web application.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3273552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3218688"/>
            <a:ext cx="4425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231F"/>
                </a:solidFill>
              </a:rPr>
              <a:t>Fits the Instagram / Reddit-style community UI naturally.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739896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3685032"/>
            <a:ext cx="4425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231F"/>
                </a:solidFill>
              </a:rPr>
              <a:t>JSP + Servlets make request/response and sessions easy to demonstrate.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425696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" y="4370832"/>
            <a:ext cx="4425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231F"/>
                </a:solidFill>
              </a:rPr>
              <a:t>JDBC maps cleanly to the required database integration.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901184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4846320"/>
            <a:ext cx="4425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231F"/>
                </a:solidFill>
              </a:rPr>
              <a:t>Responsive HTML/CSS can be shown directly in browser screenshots.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559552"/>
            <a:ext cx="1371600" cy="274320"/>
          </a:xfrm>
          <a:prstGeom prst="roundRect">
            <a:avLst>
              <a:gd name="adj" fmla="val 43333"/>
            </a:avLst>
          </a:prstGeom>
          <a:solidFill>
            <a:srgbClr val="467B57"/>
          </a:solidFill>
          <a:ln w="12700">
            <a:solidFill>
              <a:srgbClr val="467B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5732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LOWER BUILD RISK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1828800"/>
            <a:ext cx="5486400" cy="4251960"/>
          </a:xfrm>
          <a:prstGeom prst="roundRect">
            <a:avLst>
              <a:gd name="adj" fmla="val 3441"/>
            </a:avLst>
          </a:prstGeom>
          <a:solidFill>
            <a:srgbClr val="F7F3EE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0848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4226"/>
                </a:solidFill>
              </a:rPr>
              <a:t>Review 1 rubric alignment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154680"/>
            <a:ext cx="4892040" cy="0"/>
          </a:xfrm>
          <a:prstGeom prst="line">
            <a:avLst/>
          </a:prstGeom>
          <a:noFill/>
          <a:ln w="12700">
            <a:solidFill>
              <a:srgbClr val="E5DE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5877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231F"/>
                </a:solidFill>
              </a:rPr>
              <a:t>Problem Understanding &amp; Solution Design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835640" y="2587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74226"/>
                </a:solidFill>
              </a:rPr>
              <a:t>8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1320272" y="263347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16A"/>
                </a:solidFill>
              </a:rPr>
              <a:t>marks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46520" y="3886200"/>
            <a:ext cx="4892040" cy="0"/>
          </a:xfrm>
          <a:prstGeom prst="line">
            <a:avLst/>
          </a:prstGeom>
          <a:noFill/>
          <a:ln w="12700">
            <a:solidFill>
              <a:srgbClr val="E5DE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3192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31F"/>
                </a:solidFill>
              </a:rPr>
              <a:t>Core Java Concepts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835640" y="33192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74226"/>
                </a:solidFill>
              </a:rPr>
              <a:t>10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1320272" y="336499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16A"/>
                </a:solidFill>
              </a:rPr>
              <a:t>marks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46520" y="4617720"/>
            <a:ext cx="4892040" cy="0"/>
          </a:xfrm>
          <a:prstGeom prst="line">
            <a:avLst/>
          </a:prstGeom>
          <a:noFill/>
          <a:ln w="12700">
            <a:solidFill>
              <a:srgbClr val="E5DE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0507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231F"/>
                </a:solidFill>
              </a:rPr>
              <a:t>Database Integration (JDBC)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835640" y="40507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74226"/>
                </a:solidFill>
              </a:rPr>
              <a:t>8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1320272" y="40965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16A"/>
                </a:solidFill>
              </a:rPr>
              <a:t>marks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46520" y="5349240"/>
            <a:ext cx="4892040" cy="0"/>
          </a:xfrm>
          <a:prstGeom prst="line">
            <a:avLst/>
          </a:prstGeom>
          <a:noFill/>
          <a:ln w="12700">
            <a:solidFill>
              <a:srgbClr val="E5DE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47823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231F"/>
                </a:solidFill>
              </a:rPr>
              <a:t>Servlets &amp; Web Integration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835640" y="47823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74226"/>
                </a:solidFill>
              </a:rPr>
              <a:t>7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1320272" y="482803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16A"/>
                </a:solidFill>
              </a:rPr>
              <a:t>marks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46520" y="55869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31F"/>
                </a:solidFill>
              </a:rPr>
              <a:t>Review 1 total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808208" y="553212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26231F"/>
                </a:solidFill>
              </a:rPr>
              <a:t>33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DF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A74226"/>
                </a:solidFill>
              </a:rPr>
              <a:t>02 • SOLUTION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231F"/>
                </a:solidFill>
              </a:rPr>
              <a:t>One platform, three role experiences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2529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7716A"/>
                </a:solidFill>
              </a:rPr>
              <a:t>Shared feed and recipe pages, with role-specific dashboards and permissions.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0" y="1920240"/>
            <a:ext cx="3017520" cy="3291840"/>
          </a:xfrm>
          <a:prstGeom prst="roundRect">
            <a:avLst>
              <a:gd name="adj" fmla="val 4848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6231F"/>
                </a:solidFill>
              </a:rPr>
              <a:t>RecipeHub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321808" y="2743200"/>
            <a:ext cx="1508760" cy="274320"/>
          </a:xfrm>
          <a:prstGeom prst="roundRect">
            <a:avLst>
              <a:gd name="adj" fmla="val 43333"/>
            </a:avLst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21808" y="2756916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SHARED PLATFORM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83480" y="32918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16A"/>
                </a:solidFill>
              </a:rPr>
              <a:t>Explore recipes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7716A"/>
                </a:solidFill>
              </a:rPr>
              <a:t>Recipe detail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7716A"/>
                </a:solidFill>
              </a:rPr>
              <a:t>Ratings &amp; reviews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7716A"/>
                </a:solidFill>
              </a:rPr>
              <a:t>Collections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7716A"/>
                </a:solidFill>
              </a:rPr>
              <a:t>Messages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011680"/>
            <a:ext cx="3246120" cy="1325880"/>
          </a:xfrm>
          <a:prstGeom prst="roundRect">
            <a:avLst>
              <a:gd name="adj" fmla="val 11034"/>
            </a:avLst>
          </a:prstGeom>
          <a:solidFill>
            <a:srgbClr val="FFF3EE"/>
          </a:solidFill>
          <a:ln w="13970">
            <a:solidFill>
              <a:srgbClr val="EED8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267712"/>
            <a:ext cx="713232" cy="274320"/>
          </a:xfrm>
          <a:prstGeom prst="roundRect">
            <a:avLst>
              <a:gd name="adj" fmla="val 43333"/>
            </a:avLst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8142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ADMIN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26334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31F"/>
                </a:solidFill>
              </a:rPr>
              <a:t>Users • approvals • moderation • settings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2651760"/>
            <a:ext cx="731520" cy="0"/>
          </a:xfrm>
          <a:prstGeom prst="line">
            <a:avLst/>
          </a:prstGeom>
          <a:noFill/>
          <a:ln w="19050">
            <a:solidFill>
              <a:srgbClr val="E45B3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" y="3977640"/>
            <a:ext cx="3246120" cy="1325880"/>
          </a:xfrm>
          <a:prstGeom prst="roundRect">
            <a:avLst>
              <a:gd name="adj" fmla="val 11034"/>
            </a:avLst>
          </a:prstGeom>
          <a:solidFill>
            <a:srgbClr val="FFF9E9"/>
          </a:solidFill>
          <a:ln w="13970">
            <a:solidFill>
              <a:srgbClr val="E9DD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233672"/>
            <a:ext cx="1024128" cy="274320"/>
          </a:xfrm>
          <a:prstGeom prst="roundRect">
            <a:avLst>
              <a:gd name="adj" fmla="val 43333"/>
            </a:avLst>
          </a:prstGeom>
          <a:solidFill>
            <a:srgbClr val="C79535"/>
          </a:solidFill>
          <a:ln w="12700">
            <a:solidFill>
              <a:srgbClr val="C795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47388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CONTRIBUTOR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4400" y="4599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31F"/>
                </a:solidFill>
              </a:rPr>
              <a:t>Share recipes • edit • messages • stats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40480" y="4590288"/>
            <a:ext cx="731520" cy="0"/>
          </a:xfrm>
          <a:prstGeom prst="line">
            <a:avLst/>
          </a:prstGeom>
          <a:noFill/>
          <a:ln w="19050">
            <a:solidFill>
              <a:srgbClr val="C7953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75320" y="2011680"/>
            <a:ext cx="3246120" cy="1325880"/>
          </a:xfrm>
          <a:prstGeom prst="roundRect">
            <a:avLst>
              <a:gd name="adj" fmla="val 11034"/>
            </a:avLst>
          </a:prstGeom>
          <a:solidFill>
            <a:srgbClr val="EDF7F0"/>
          </a:solidFill>
          <a:ln w="13970">
            <a:solidFill>
              <a:srgbClr val="CFE0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0" y="2267712"/>
            <a:ext cx="822960" cy="274320"/>
          </a:xfrm>
          <a:prstGeom prst="roundRect">
            <a:avLst>
              <a:gd name="adj" fmla="val 43333"/>
            </a:avLst>
          </a:prstGeom>
          <a:solidFill>
            <a:srgbClr val="467B57"/>
          </a:solidFill>
          <a:ln w="12700">
            <a:solidFill>
              <a:srgbClr val="467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228142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EXPLORER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595360" y="26334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31F"/>
                </a:solidFill>
              </a:rPr>
              <a:t>Search • rate • review • collect • history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75320" y="2651760"/>
            <a:ext cx="-685800" cy="0"/>
          </a:xfrm>
          <a:prstGeom prst="line">
            <a:avLst/>
          </a:prstGeom>
          <a:noFill/>
          <a:ln w="19050">
            <a:solidFill>
              <a:srgbClr val="467B5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75320" y="3977640"/>
            <a:ext cx="3246120" cy="1325880"/>
          </a:xfrm>
          <a:prstGeom prst="roundRect">
            <a:avLst>
              <a:gd name="adj" fmla="val 11034"/>
            </a:avLst>
          </a:prstGeom>
          <a:solidFill>
            <a:srgbClr val="F7F3EE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4251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4226"/>
                </a:solidFill>
              </a:rPr>
              <a:t>Shared design language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49640" y="46177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A"/>
                </a:solidFill>
              </a:rPr>
              <a:t>Cards • filters • tables • dashboards • responsive layout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75320" y="4590288"/>
            <a:ext cx="-685800" cy="0"/>
          </a:xfrm>
          <a:prstGeom prst="line">
            <a:avLst/>
          </a:prstGeom>
          <a:noFill/>
          <a:ln w="15240">
            <a:solidFill>
              <a:srgbClr val="77716A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DF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A74226"/>
                </a:solidFill>
              </a:rPr>
              <a:t>03 • TECHNICAL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231F"/>
                </a:solidFill>
              </a:rPr>
              <a:t>Simple MVC-style Java web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2529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7716A"/>
                </a:solidFill>
              </a:rPr>
              <a:t>Keep the layers obvious so the reviewer can trace one request from browser to database.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97280" y="1783080"/>
            <a:ext cx="9875520" cy="566928"/>
          </a:xfrm>
          <a:prstGeom prst="roundRect">
            <a:avLst>
              <a:gd name="adj" fmla="val 25806"/>
            </a:avLst>
          </a:prstGeom>
          <a:solidFill>
            <a:srgbClr val="F5F1EB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892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6231F"/>
                </a:solidFill>
              </a:rPr>
              <a:t>Browser / 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37560" y="18928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16A"/>
                </a:solidFill>
              </a:rPr>
              <a:t>HTML5 • CSS3 • JSP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16752" y="2350008"/>
            <a:ext cx="0" cy="201168"/>
          </a:xfrm>
          <a:prstGeom prst="line">
            <a:avLst/>
          </a:prstGeom>
          <a:noFill/>
          <a:ln w="12700">
            <a:solidFill>
              <a:srgbClr val="77716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97280" y="2569464"/>
            <a:ext cx="9875520" cy="566928"/>
          </a:xfrm>
          <a:prstGeom prst="roundRect">
            <a:avLst>
              <a:gd name="adj" fmla="val 25806"/>
            </a:avLst>
          </a:prstGeom>
          <a:solidFill>
            <a:srgbClr val="FFF3EE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679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6231F"/>
                </a:solidFill>
              </a:rPr>
              <a:t>Controller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6791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16A"/>
                </a:solidFill>
              </a:rPr>
              <a:t>Jakarta Servlets • request/response • session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16752" y="3136392"/>
            <a:ext cx="0" cy="201168"/>
          </a:xfrm>
          <a:prstGeom prst="line">
            <a:avLst/>
          </a:prstGeom>
          <a:noFill/>
          <a:ln w="12700">
            <a:solidFill>
              <a:srgbClr val="77716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97280" y="3355848"/>
            <a:ext cx="9875520" cy="566928"/>
          </a:xfrm>
          <a:prstGeom prst="roundRect">
            <a:avLst>
              <a:gd name="adj" fmla="val 25806"/>
            </a:avLst>
          </a:prstGeom>
          <a:solidFill>
            <a:srgbClr val="FFF9E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4655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6231F"/>
                </a:solidFill>
              </a:rPr>
              <a:t>Service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346557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16A"/>
                </a:solidFill>
              </a:rPr>
              <a:t>Authentication • recipe rules • validation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16752" y="3922776"/>
            <a:ext cx="0" cy="201168"/>
          </a:xfrm>
          <a:prstGeom prst="line">
            <a:avLst/>
          </a:prstGeom>
          <a:noFill/>
          <a:ln w="12700">
            <a:solidFill>
              <a:srgbClr val="77716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97280" y="4142232"/>
            <a:ext cx="9875520" cy="566928"/>
          </a:xfrm>
          <a:prstGeom prst="roundRect">
            <a:avLst>
              <a:gd name="adj" fmla="val 25806"/>
            </a:avLst>
          </a:prstGeom>
          <a:solidFill>
            <a:srgbClr val="EDF7F0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6231F"/>
                </a:solidFill>
              </a:rPr>
              <a:t>DAO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42519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16A"/>
                </a:solidFill>
              </a:rPr>
              <a:t>UserDAO • RecipeDAO • CRUDDAO&lt;T&gt;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16752" y="4709160"/>
            <a:ext cx="0" cy="201168"/>
          </a:xfrm>
          <a:prstGeom prst="line">
            <a:avLst/>
          </a:prstGeom>
          <a:noFill/>
          <a:ln w="12700">
            <a:solidFill>
              <a:srgbClr val="77716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97280" y="4928616"/>
            <a:ext cx="9875520" cy="566928"/>
          </a:xfrm>
          <a:prstGeom prst="roundRect">
            <a:avLst>
              <a:gd name="adj" fmla="val 25806"/>
            </a:avLst>
          </a:prstGeom>
          <a:solidFill>
            <a:srgbClr val="EEF3F7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6231F"/>
                </a:solidFill>
              </a:rPr>
              <a:t>JDBC / MySQL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503834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16A"/>
                </a:solidFill>
              </a:rPr>
              <a:t>PreparedStatement • ResultSet • normalized tables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843016"/>
            <a:ext cx="10789920" cy="475488"/>
          </a:xfrm>
          <a:prstGeom prst="roundRect">
            <a:avLst>
              <a:gd name="adj" fmla="val 30769"/>
            </a:avLst>
          </a:prstGeom>
          <a:solidFill>
            <a:srgbClr val="26231F"/>
          </a:solidFill>
          <a:ln w="13970">
            <a:solidFill>
              <a:srgbClr val="2623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96188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Cross-cutting: AuthFilter • application exceptions • session user • role checks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DF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A74226"/>
                </a:solidFill>
              </a:rPr>
              <a:t>04 • DATABASE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231F"/>
                </a:solidFill>
              </a:rPr>
              <a:t>Normalized schema for the platform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2529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7716A"/>
                </a:solidFill>
              </a:rPr>
              <a:t>The design separates users, recipes, recipe parts, reviews, collections, messages, history and system settings.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057400" cy="1234440"/>
          </a:xfrm>
          <a:prstGeom prst="roundRect">
            <a:avLst>
              <a:gd name="adj" fmla="val 11852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920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4226"/>
                </a:solidFill>
              </a:rPr>
              <a:t>users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12648" y="2221992"/>
            <a:ext cx="1828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id PK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name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email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role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active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26080" y="1828800"/>
            <a:ext cx="2057400" cy="1234440"/>
          </a:xfrm>
          <a:prstGeom prst="roundRect">
            <a:avLst>
              <a:gd name="adj" fmla="val 11852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5808" y="1920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4226"/>
                </a:solidFill>
              </a:rPr>
              <a:t>recipes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35808" y="2221992"/>
            <a:ext cx="1828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id PK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author_id FK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title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status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views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1828800"/>
            <a:ext cx="2057400" cy="1051560"/>
          </a:xfrm>
          <a:prstGeom prst="roundRect">
            <a:avLst>
              <a:gd name="adj" fmla="val 13913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96128" y="1920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4226"/>
                </a:solidFill>
              </a:rPr>
              <a:t>ingredients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596128" y="2221992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id PK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recipe_id FK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item_name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quantity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2057400" cy="1051560"/>
          </a:xfrm>
          <a:prstGeom prst="roundRect">
            <a:avLst>
              <a:gd name="adj" fmla="val 13913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56448" y="1920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4226"/>
                </a:solidFill>
              </a:rPr>
              <a:t>instructions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56448" y="2221992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id PK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recipe_id FK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step_no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text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26080" y="3840480"/>
            <a:ext cx="2057400" cy="1051560"/>
          </a:xfrm>
          <a:prstGeom prst="roundRect">
            <a:avLst>
              <a:gd name="adj" fmla="val 13913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35808" y="3931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4226"/>
                </a:solidFill>
              </a:rPr>
              <a:t>reviews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035808" y="4233672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id PK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recipe_id FK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user_id FK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rating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0" y="3840480"/>
            <a:ext cx="2057400" cy="1051560"/>
          </a:xfrm>
          <a:prstGeom prst="roundRect">
            <a:avLst>
              <a:gd name="adj" fmla="val 13913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96128" y="3931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4226"/>
                </a:solidFill>
              </a:rPr>
              <a:t>collections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596128" y="4233672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id PK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user_id FK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name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46720" y="3840480"/>
            <a:ext cx="2057400" cy="1051560"/>
          </a:xfrm>
          <a:prstGeom prst="roundRect">
            <a:avLst>
              <a:gd name="adj" fmla="val 13913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56448" y="3931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4226"/>
                </a:solidFill>
              </a:rPr>
              <a:t>collection_items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56448" y="4233672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collection_id FK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recipe_id FK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3977640"/>
            <a:ext cx="2057400" cy="1051560"/>
          </a:xfrm>
          <a:prstGeom prst="roundRect">
            <a:avLst>
              <a:gd name="adj" fmla="val 13913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4069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4226"/>
                </a:solidFill>
              </a:rPr>
              <a:t>messages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2648" y="4370832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id PK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sender_id FK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receiver_id FK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message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5138928"/>
            <a:ext cx="2057400" cy="1051560"/>
          </a:xfrm>
          <a:prstGeom prst="roundRect">
            <a:avLst>
              <a:gd name="adj" fmla="val 13913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52303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4226"/>
                </a:solidFill>
              </a:rPr>
              <a:t>browsing_history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2648" y="5532120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id PK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user_id FK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recipe_id FK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viewed_at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46720" y="5321808"/>
            <a:ext cx="2057400" cy="1051560"/>
          </a:xfrm>
          <a:prstGeom prst="roundRect">
            <a:avLst>
              <a:gd name="adj" fmla="val 13913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56448" y="54132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4226"/>
                </a:solidFill>
              </a:rPr>
              <a:t>system_settings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56448" y="5715000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setting_key PK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setting_value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60320" y="2331720"/>
            <a:ext cx="365760" cy="0"/>
          </a:xfrm>
          <a:prstGeom prst="line">
            <a:avLst/>
          </a:prstGeom>
          <a:noFill/>
          <a:ln w="12700">
            <a:solidFill>
              <a:srgbClr val="77716A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977640" y="3063240"/>
            <a:ext cx="0" cy="777240"/>
          </a:xfrm>
          <a:prstGeom prst="line">
            <a:avLst/>
          </a:prstGeom>
          <a:noFill/>
          <a:ln w="12700">
            <a:solidFill>
              <a:srgbClr val="77716A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537960" y="3063240"/>
            <a:ext cx="0" cy="777240"/>
          </a:xfrm>
          <a:prstGeom prst="line">
            <a:avLst/>
          </a:prstGeom>
          <a:noFill/>
          <a:ln w="12700">
            <a:solidFill>
              <a:srgbClr val="77716A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098280" y="3063240"/>
            <a:ext cx="0" cy="777240"/>
          </a:xfrm>
          <a:prstGeom prst="line">
            <a:avLst/>
          </a:prstGeom>
          <a:noFill/>
          <a:ln w="12700">
            <a:solidFill>
              <a:srgbClr val="77716A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560320" y="4572000"/>
            <a:ext cx="365760" cy="-1874520"/>
          </a:xfrm>
          <a:prstGeom prst="line">
            <a:avLst/>
          </a:prstGeom>
          <a:noFill/>
          <a:ln w="12700">
            <a:solidFill>
              <a:srgbClr val="77716A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560320" y="5468112"/>
            <a:ext cx="5486400" cy="-1060704"/>
          </a:xfrm>
          <a:prstGeom prst="line">
            <a:avLst/>
          </a:prstGeom>
          <a:noFill/>
          <a:ln w="12700">
            <a:solidFill>
              <a:srgbClr val="77716A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8275320" y="4727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16A"/>
                </a:solidFill>
              </a:rPr>
              <a:t>Core relationships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75320" y="4956048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6231F"/>
                </a:solidFill>
              </a:rPr>
              <a:t>users → recipes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6231F"/>
                </a:solidFill>
              </a:rPr>
              <a:t>recipes → ingredients / instructions / reviews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6231F"/>
                </a:solidFill>
              </a:rPr>
              <a:t>users ↔ collections / messages / history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DF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A74226"/>
                </a:solidFill>
              </a:rPr>
              <a:t>05 • UI / UX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231F"/>
                </a:solidFill>
              </a:rPr>
              <a:t>A social-feed style interface without copying a specific platform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2529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7716A"/>
                </a:solidFill>
              </a:rPr>
              <a:t>Warm editorial cards, simple navigation, clear hierarchy and mobile-safe layouts.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4251960"/>
          </a:xfrm>
          <a:prstGeom prst="roundRect">
            <a:avLst>
              <a:gd name="adj" fmla="val 3441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29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4226"/>
                </a:solidFill>
              </a:rPr>
              <a:t>SIGN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40487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6231F"/>
                </a:solidFill>
              </a:rPr>
              <a:t>Good recipes deserve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26231F"/>
                </a:solidFill>
              </a:rPr>
              <a:t>good company.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4297680" y="2148840"/>
            <a:ext cx="1325880" cy="1325880"/>
          </a:xfrm>
          <a:prstGeom prst="roundRect">
            <a:avLst>
              <a:gd name="adj" fmla="val 15172"/>
            </a:avLst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🍴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33192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16A"/>
                </a:solidFill>
              </a:rPr>
              <a:t>Email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3547872"/>
            <a:ext cx="4069080" cy="365760"/>
          </a:xfrm>
          <a:prstGeom prst="roundRect">
            <a:avLst>
              <a:gd name="adj" fmla="val 25000"/>
            </a:avLst>
          </a:prstGeom>
          <a:solidFill>
            <a:srgbClr val="F8F5F0"/>
          </a:solidFill>
          <a:ln w="10160">
            <a:solidFill>
              <a:srgbClr val="E5DE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8862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7716A"/>
                </a:solidFill>
              </a:rPr>
              <a:t>Password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4069080" cy="365760"/>
          </a:xfrm>
          <a:prstGeom prst="roundRect">
            <a:avLst>
              <a:gd name="adj" fmla="val 25000"/>
            </a:avLst>
          </a:prstGeom>
          <a:solidFill>
            <a:srgbClr val="F8F5F0"/>
          </a:solidFill>
          <a:ln w="10160">
            <a:solidFill>
              <a:srgbClr val="E5DE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690872"/>
            <a:ext cx="4069080" cy="393192"/>
          </a:xfrm>
          <a:prstGeom prst="roundRect">
            <a:avLst>
              <a:gd name="adj" fmla="val 23256"/>
            </a:avLst>
          </a:prstGeom>
          <a:solidFill>
            <a:srgbClr val="26231F"/>
          </a:solidFill>
          <a:ln w="12700">
            <a:solidFill>
              <a:srgbClr val="2623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74573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Sign 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5422392" cy="4251960"/>
          </a:xfrm>
          <a:prstGeom prst="roundRect">
            <a:avLst>
              <a:gd name="adj" fmla="val 3441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0299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4226"/>
                </a:solidFill>
              </a:rPr>
              <a:t>EXPLORE RECIPES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2350008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6231F"/>
                </a:solidFill>
              </a:rPr>
              <a:t>What's cooking today?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537960" y="2880360"/>
            <a:ext cx="4251960" cy="393192"/>
          </a:xfrm>
          <a:prstGeom prst="roundRect">
            <a:avLst>
              <a:gd name="adj" fmla="val 23256"/>
            </a:avLst>
          </a:prstGeom>
          <a:solidFill>
            <a:srgbClr val="F7F4EF"/>
          </a:solidFill>
          <a:ln w="12700">
            <a:solidFill>
              <a:srgbClr val="E5DE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29809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Search recipes, cuisines, ingredients...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37960" y="3547872"/>
            <a:ext cx="2011680" cy="1828800"/>
          </a:xfrm>
          <a:prstGeom prst="roundRect">
            <a:avLst>
              <a:gd name="adj" fmla="val 7500"/>
            </a:avLst>
          </a:prstGeom>
          <a:solidFill>
            <a:srgbClr val="E9D4BD"/>
          </a:solidFill>
          <a:ln w="12700">
            <a:solidFill>
              <a:srgbClr val="E5DE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3785616"/>
            <a:ext cx="1005840" cy="777240"/>
          </a:xfrm>
          <a:prstGeom prst="ellipse">
            <a:avLst/>
          </a:prstGeom>
          <a:solidFill>
            <a:srgbClr val="C46E39"/>
          </a:solidFill>
          <a:ln w="12700">
            <a:solidFill>
              <a:srgbClr val="C46E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84264" y="4663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31F"/>
                </a:solidFill>
              </a:rPr>
              <a:t>Creamy Garlic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6231F"/>
                </a:solidFill>
              </a:rPr>
              <a:t>Pasta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84264" y="52303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7716A"/>
                </a:solidFill>
              </a:rPr>
              <a:t>★ 4.8 • 128 views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732520" y="3547872"/>
            <a:ext cx="2011680" cy="1828800"/>
          </a:xfrm>
          <a:prstGeom prst="roundRect">
            <a:avLst>
              <a:gd name="adj" fmla="val 7500"/>
            </a:avLst>
          </a:prstGeom>
          <a:solidFill>
            <a:srgbClr val="D9C9B2"/>
          </a:solidFill>
          <a:ln w="12700">
            <a:solidFill>
              <a:srgbClr val="E5DED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35440" y="3785616"/>
            <a:ext cx="1005840" cy="777240"/>
          </a:xfrm>
          <a:prstGeom prst="ellipse">
            <a:avLst/>
          </a:prstGeom>
          <a:solidFill>
            <a:srgbClr val="9C6B3C"/>
          </a:solidFill>
          <a:ln w="12700">
            <a:solidFill>
              <a:srgbClr val="9C6B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78824" y="4663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31F"/>
                </a:solidFill>
              </a:rPr>
              <a:t>Masala Vegetable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6231F"/>
                </a:solidFill>
              </a:rPr>
              <a:t>Toast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78824" y="52303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7716A"/>
                </a:solidFill>
              </a:rPr>
              <a:t>★ 4.5 • 94 views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55080" y="5687568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7716A"/>
                </a:solidFill>
              </a:rPr>
              <a:t>Design principles: consistent cards • strong whitespace • responsive grid • visible role context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DF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A74226"/>
                </a:solidFill>
              </a:rPr>
              <a:t>06 • ROLE DASHBOARDS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231F"/>
                </a:solidFill>
              </a:rPr>
              <a:t>The requirements map directly into four dashboard areas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2529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7716A"/>
                </a:solidFill>
              </a:rPr>
              <a:t>Each dashboard emphasizes the actions that belong to that role instead of putting every feature into one screen.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11680"/>
            <a:ext cx="749808" cy="274320"/>
          </a:xfrm>
          <a:prstGeom prst="roundRect">
            <a:avLst>
              <a:gd name="adj" fmla="val 43333"/>
            </a:avLst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2539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ADMIN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24140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231F"/>
                </a:solidFill>
              </a:rPr>
              <a:t>Control center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862072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807208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231F"/>
                </a:solidFill>
              </a:rPr>
              <a:t>User management table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072384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017520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231F"/>
                </a:solidFill>
              </a:rPr>
              <a:t>Recipe approval queue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282696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227832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231F"/>
                </a:solidFill>
              </a:rPr>
              <a:t>Content moderation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49300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3438144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231F"/>
                </a:solidFill>
              </a:rPr>
              <a:t>System settings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99632" y="178308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28232" y="2011680"/>
            <a:ext cx="905256" cy="274320"/>
          </a:xfrm>
          <a:prstGeom prst="roundRect">
            <a:avLst>
              <a:gd name="adj" fmla="val 43333"/>
            </a:avLst>
          </a:prstGeom>
          <a:solidFill>
            <a:srgbClr val="C79535"/>
          </a:solidFill>
          <a:ln w="12700">
            <a:solidFill>
              <a:srgbClr val="C795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2025396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CONTRIBUTOR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28232" y="24140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231F"/>
                </a:solidFill>
              </a:rPr>
              <a:t>My kitchen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28232" y="2862072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74536" y="2807208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231F"/>
                </a:solidFill>
              </a:rPr>
              <a:t>Personal recipe management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28232" y="3072384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4536" y="3017520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231F"/>
                </a:solidFill>
              </a:rPr>
              <a:t>Interaction history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28232" y="3282696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74536" y="3227832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231F"/>
                </a:solidFill>
              </a:rPr>
              <a:t>Views / ratings / feedback stats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28232" y="349300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74536" y="3438144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231F"/>
                </a:solidFill>
              </a:rPr>
              <a:t>Profile management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88620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4114800"/>
            <a:ext cx="749808" cy="274320"/>
          </a:xfrm>
          <a:prstGeom prst="roundRect">
            <a:avLst>
              <a:gd name="adj" fmla="val 43333"/>
            </a:avLst>
          </a:prstGeom>
          <a:solidFill>
            <a:srgbClr val="467B57"/>
          </a:solidFill>
          <a:ln w="12700">
            <a:solidFill>
              <a:srgbClr val="467B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12851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EXPLORER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1520" y="451713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231F"/>
                </a:solidFill>
              </a:rPr>
              <a:t>My collection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731520" y="4965192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4910328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231F"/>
                </a:solidFill>
              </a:rPr>
              <a:t>Browsing history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5175504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" y="5120640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231F"/>
                </a:solidFill>
              </a:rPr>
              <a:t>Ratings and reviews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" y="5385816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" y="5330952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231F"/>
                </a:solidFill>
              </a:rPr>
              <a:t>Recipe collections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559612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" y="5541264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231F"/>
                </a:solidFill>
              </a:rPr>
              <a:t>Profile &amp; preferences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99632" y="388620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28232" y="4114800"/>
            <a:ext cx="749808" cy="274320"/>
          </a:xfrm>
          <a:prstGeom prst="roundRect">
            <a:avLst>
              <a:gd name="adj" fmla="val 43333"/>
            </a:avLst>
          </a:prstGeom>
          <a:solidFill>
            <a:srgbClr val="26231F"/>
          </a:solidFill>
          <a:ln w="12700">
            <a:solidFill>
              <a:srgbClr val="26231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412851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SHARED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428232" y="451713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231F"/>
                </a:solidFill>
              </a:rPr>
              <a:t>Recipe experience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6428232" y="4965192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74536" y="4910328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231F"/>
                </a:solidFill>
              </a:rPr>
              <a:t>Search + filters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28232" y="5175504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74536" y="5120640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231F"/>
                </a:solidFill>
              </a:rPr>
              <a:t>Recipe detail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28232" y="5385816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74536" y="5330952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231F"/>
                </a:solidFill>
              </a:rPr>
              <a:t>Save / collection action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28232" y="559612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74536" y="5541264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231F"/>
                </a:solidFill>
              </a:rPr>
              <a:t>Community feedback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DF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A74226"/>
                </a:solidFill>
              </a:rPr>
              <a:t>07 • REVIEW 1 READINESS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231F"/>
                </a:solidFill>
              </a:rPr>
              <a:t>What is already structured in the repository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2529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7716A"/>
                </a:solidFill>
              </a:rPr>
              <a:t>The goal is to submit a coherent architecture, schema, connectivity layer and UI plan now, then expand the same structure for Review 2.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786384"/>
          </a:xfrm>
          <a:prstGeom prst="roundRect">
            <a:avLst>
              <a:gd name="adj" fmla="val 18605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938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6231F"/>
                </a:solidFill>
              </a:rPr>
              <a:t>Problem / solution design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90672" y="1901952"/>
            <a:ext cx="6812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716A"/>
                </a:solidFill>
              </a:rPr>
              <a:t>Role map + feature map + navigation plan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378440" y="2020824"/>
            <a:ext cx="868680" cy="274320"/>
          </a:xfrm>
          <a:prstGeom prst="roundRect">
            <a:avLst>
              <a:gd name="adj" fmla="val 43333"/>
            </a:avLst>
          </a:prstGeom>
          <a:solidFill>
            <a:srgbClr val="467B57"/>
          </a:solidFill>
          <a:ln w="12700">
            <a:solidFill>
              <a:srgbClr val="467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78440" y="2034540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READY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761488"/>
            <a:ext cx="10881360" cy="786384"/>
          </a:xfrm>
          <a:prstGeom prst="roundRect">
            <a:avLst>
              <a:gd name="adj" fmla="val 18605"/>
            </a:avLst>
          </a:prstGeom>
          <a:solidFill>
            <a:srgbClr val="F7F3EE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07792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6231F"/>
                </a:solidFill>
              </a:rPr>
              <a:t>Core Java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90672" y="2880360"/>
            <a:ext cx="6812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716A"/>
                </a:solidFill>
              </a:rPr>
              <a:t>Models, enums, generic DAO contract, custom exceptions, service layer, async StatsService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378440" y="2999232"/>
            <a:ext cx="868680" cy="274320"/>
          </a:xfrm>
          <a:prstGeom prst="roundRect">
            <a:avLst>
              <a:gd name="adj" fmla="val 43333"/>
            </a:avLst>
          </a:prstGeom>
          <a:solidFill>
            <a:srgbClr val="467B57"/>
          </a:solidFill>
          <a:ln w="12700">
            <a:solidFill>
              <a:srgbClr val="467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78440" y="301294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READY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3739896"/>
            <a:ext cx="10881360" cy="786384"/>
          </a:xfrm>
          <a:prstGeom prst="roundRect">
            <a:avLst>
              <a:gd name="adj" fmla="val 18605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886200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6231F"/>
                </a:solidFill>
              </a:rPr>
              <a:t>Database / JDBC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090672" y="3858768"/>
            <a:ext cx="6812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716A"/>
                </a:solidFill>
              </a:rPr>
              <a:t>MySQL schema, foreign keys, indexes, PreparedStatement DAOs, connection utility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378440" y="3977640"/>
            <a:ext cx="868680" cy="274320"/>
          </a:xfrm>
          <a:prstGeom prst="roundRect">
            <a:avLst>
              <a:gd name="adj" fmla="val 43333"/>
            </a:avLst>
          </a:prstGeom>
          <a:solidFill>
            <a:srgbClr val="467B57"/>
          </a:solidFill>
          <a:ln w="12700">
            <a:solidFill>
              <a:srgbClr val="467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78440" y="3991356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READY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4718304"/>
            <a:ext cx="10881360" cy="786384"/>
          </a:xfrm>
          <a:prstGeom prst="roundRect">
            <a:avLst>
              <a:gd name="adj" fmla="val 18605"/>
            </a:avLst>
          </a:prstGeom>
          <a:solidFill>
            <a:srgbClr val="F7F3EE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864608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6231F"/>
                </a:solidFill>
              </a:rPr>
              <a:t>Servlets / Web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90672" y="4837176"/>
            <a:ext cx="6812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7716A"/>
                </a:solidFill>
              </a:rPr>
              <a:t>Login, logout, feed, recipe detail, dashboards, AuthFilter, JSP views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378440" y="4956048"/>
            <a:ext cx="868680" cy="274320"/>
          </a:xfrm>
          <a:prstGeom prst="roundRect">
            <a:avLst>
              <a:gd name="adj" fmla="val 43333"/>
            </a:avLst>
          </a:prstGeom>
          <a:solidFill>
            <a:srgbClr val="467B57"/>
          </a:solidFill>
          <a:ln w="12700">
            <a:solidFill>
              <a:srgbClr val="467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78440" y="4969764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READY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0080" y="5788152"/>
            <a:ext cx="10881360" cy="411480"/>
          </a:xfrm>
          <a:prstGeom prst="roundRect">
            <a:avLst>
              <a:gd name="adj" fmla="val 35556"/>
            </a:avLst>
          </a:prstGeom>
          <a:solidFill>
            <a:srgbClr val="26231F"/>
          </a:solidFill>
          <a:ln w="13970">
            <a:solidFill>
              <a:srgbClr val="2623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87959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Review 1 deliverables: presentation + GitHub repository + README + database files + project structure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DF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A74226"/>
                </a:solidFill>
              </a:rPr>
              <a:t>08 • EXECUTION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231F"/>
                </a:solidFill>
              </a:rPr>
              <a:t>Two focused build days, then incremental completion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2529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7716A"/>
                </a:solidFill>
              </a:rPr>
              <a:t>Do not redesign the project after Review 1. Keep this structure and add the remaining CRUD operations and final business features.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310128" cy="4160520"/>
          </a:xfrm>
          <a:prstGeom prst="roundRect">
            <a:avLst>
              <a:gd name="adj" fmla="val 4420"/>
            </a:avLst>
          </a:prstGeom>
          <a:solidFill>
            <a:srgbClr val="FFF3EE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03120"/>
            <a:ext cx="822960" cy="274320"/>
          </a:xfrm>
          <a:prstGeom prst="roundRect">
            <a:avLst>
              <a:gd name="adj" fmla="val 43333"/>
            </a:avLst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1683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DAY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31F"/>
                </a:solidFill>
              </a:rPr>
              <a:t>Build foundation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12724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0723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231F"/>
                </a:solidFill>
              </a:rPr>
              <a:t>Create Maven project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58444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5295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231F"/>
                </a:solidFill>
              </a:rPr>
              <a:t>Run schema + seed SQL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404164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9867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231F"/>
                </a:solidFill>
              </a:rPr>
              <a:t>Verify JDBC connection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449884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4439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231F"/>
                </a:solidFill>
              </a:rPr>
              <a:t>Implement login / sessions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95604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9011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231F"/>
                </a:solidFill>
              </a:rPr>
              <a:t>Wire feed + recipe detail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541324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53583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231F"/>
                </a:solidFill>
              </a:rPr>
              <a:t>Commit to GitHub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9664" y="1828800"/>
            <a:ext cx="3310128" cy="4160520"/>
          </a:xfrm>
          <a:prstGeom prst="roundRect">
            <a:avLst>
              <a:gd name="adj" fmla="val 4420"/>
            </a:avLst>
          </a:prstGeom>
          <a:solidFill>
            <a:srgbClr val="FFF9E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98264" y="2103120"/>
            <a:ext cx="822960" cy="274320"/>
          </a:xfrm>
          <a:prstGeom prst="roundRect">
            <a:avLst>
              <a:gd name="adj" fmla="val 43333"/>
            </a:avLst>
          </a:prstGeom>
          <a:solidFill>
            <a:srgbClr val="C79535"/>
          </a:solidFill>
          <a:ln w="12700">
            <a:solidFill>
              <a:srgbClr val="C795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98264" y="211683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DAY 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98264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31F"/>
                </a:solidFill>
              </a:rPr>
              <a:t>Polish + submit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398264" y="312724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30723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231F"/>
                </a:solidFill>
              </a:rPr>
              <a:t>Finish dashboard screens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98264" y="358444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4568" y="35295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231F"/>
                </a:solidFill>
              </a:rPr>
              <a:t>Add screenshots / diagrams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98264" y="404164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44568" y="39867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231F"/>
                </a:solidFill>
              </a:rPr>
              <a:t>Clean README + .gitignore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98264" y="449884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44568" y="44439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231F"/>
                </a:solidFill>
              </a:rPr>
              <a:t>Run a smoke test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98264" y="495604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44568" y="49011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231F"/>
                </a:solidFill>
              </a:rPr>
              <a:t>Prepare presentation PDF/PPT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98264" y="541324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44568" y="53583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231F"/>
                </a:solidFill>
              </a:rPr>
              <a:t>Submit before deadline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36408" y="1828800"/>
            <a:ext cx="3310128" cy="4160520"/>
          </a:xfrm>
          <a:prstGeom prst="roundRect">
            <a:avLst>
              <a:gd name="adj" fmla="val 4420"/>
            </a:avLst>
          </a:prstGeom>
          <a:solidFill>
            <a:srgbClr val="FFFDF9"/>
          </a:solidFill>
          <a:ln w="13970">
            <a:solidFill>
              <a:srgbClr val="E5DED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65008" y="2103120"/>
            <a:ext cx="822960" cy="274320"/>
          </a:xfrm>
          <a:prstGeom prst="roundRect">
            <a:avLst>
              <a:gd name="adj" fmla="val 43333"/>
            </a:avLst>
          </a:prstGeom>
          <a:solidFill>
            <a:srgbClr val="467B57"/>
          </a:solidFill>
          <a:ln w="12700">
            <a:solidFill>
              <a:srgbClr val="467B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65008" y="211683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REVIEW 2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065008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31F"/>
                </a:solidFill>
              </a:rPr>
              <a:t>Finish functionality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065008" y="312724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11312" y="30723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231F"/>
                </a:solidFill>
              </a:rPr>
              <a:t>Recipe CRUD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065008" y="358444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11312" y="35295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231F"/>
                </a:solidFill>
              </a:rPr>
              <a:t>Approve / reject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65008" y="404164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11312" y="39867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231F"/>
                </a:solidFill>
              </a:rPr>
              <a:t>Ratings + reviews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065008" y="449884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11312" y="44439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231F"/>
                </a:solidFill>
              </a:rPr>
              <a:t>Collections + history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065008" y="495604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11312" y="49011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231F"/>
                </a:solidFill>
              </a:rPr>
              <a:t>Messaging + stats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065008" y="5413248"/>
            <a:ext cx="64008" cy="64008"/>
          </a:xfrm>
          <a:prstGeom prst="ellipse">
            <a:avLst/>
          </a:prstGeom>
          <a:solidFill>
            <a:srgbClr val="E45B37"/>
          </a:solidFill>
          <a:ln w="12700">
            <a:solidFill>
              <a:srgbClr val="E45B3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11312" y="53583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231F"/>
                </a:solidFill>
              </a:rPr>
              <a:t>Testing + code cleanup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21208" y="61996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7716A"/>
                </a:solidFill>
              </a:rPr>
              <a:t>Deadline to protect: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874520" y="6153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74226"/>
                </a:solidFill>
              </a:rPr>
              <a:t>Saturday, 10 October 2026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845552" y="619963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7716A"/>
                </a:solidFill>
              </a:rPr>
              <a:t>Review 2 deadline: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235440" y="61539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6231F"/>
                </a:solidFill>
              </a:rPr>
              <a:t>Sunday, 15 November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DF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Galgotias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Recipe Sharing Platform - Review 1</dc:title>
  <dc:subject>Java Programming Review 1</dc:subject>
  <dc:creator>Online Recipe Sharing Platform Team</dc:creator>
  <cp:lastModifiedBy>Online Recipe Sharing Platform Team</cp:lastModifiedBy>
  <cp:revision>1</cp:revision>
  <dcterms:created xsi:type="dcterms:W3CDTF">2026-10-04T05:43:53Z</dcterms:created>
  <dcterms:modified xsi:type="dcterms:W3CDTF">2026-10-04T05:43:53Z</dcterms:modified>
</cp:coreProperties>
</file>